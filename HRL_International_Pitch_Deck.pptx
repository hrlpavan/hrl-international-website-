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728655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</a:defRPr>
            </a:pPr>
            <a:r>
              <a:t>HRL INTERNATIONAL PRIVATE LIMITED</a:t>
            </a:r>
          </a:p>
          <a:p>
            <a:pPr>
              <a:spcAft>
                <a:spcPts val="1200"/>
              </a:spcAft>
              <a:defRPr sz="3200" b="1">
                <a:solidFill>
                  <a:srgbClr val="0F172A"/>
                </a:solidFill>
              </a:defRPr>
            </a:pPr>
            <a:r>
              <a:t>Next-Generation Visual Computing &amp;</a:t>
            </a:r>
            <a:br/>
            <a:r>
              <a:t>Autonomous AI Post-Production Engine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Democratizing Hollywood-grade DaVinci Resolve OFX visual effects, ACES color science, and on-device AI workflows.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4114800"/>
            <a:ext cx="3328416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2563EB"/>
                </a:solidFill>
              </a:defRPr>
            </a:pPr>
            <a:r>
              <a:t>FOUNDER &amp; ARCHITECT</a:t>
            </a:r>
          </a:p>
          <a:p>
            <a:pPr>
              <a:spcAft>
                <a:spcPts val="400"/>
              </a:spcAft>
              <a:defRPr sz="1500" b="1">
                <a:solidFill>
                  <a:srgbClr val="0F172A"/>
                </a:solidFill>
              </a:defRPr>
            </a:pPr>
            <a:r>
              <a:t>Pavan Kumar Sadashiv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B.E. CSE (AI &amp; ML) • Sahyadri (SCEM)</a:t>
            </a:r>
            <a:br/>
            <a:r>
              <a:t>Mangaluru, Karnataka (Beyond Bengaluru)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25696" y="4114800"/>
            <a:ext cx="3328416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7C3AED"/>
                </a:solidFill>
              </a:defRPr>
            </a:pPr>
            <a:r>
              <a:t>SECTOR &amp; INITIATIVE</a:t>
            </a:r>
          </a:p>
          <a:p>
            <a:pPr>
              <a:spcAft>
                <a:spcPts val="400"/>
              </a:spcAft>
              <a:defRPr sz="1500" b="1">
                <a:solidFill>
                  <a:srgbClr val="0F172A"/>
                </a:solidFill>
              </a:defRPr>
            </a:pPr>
            <a:r>
              <a:t>Deep-Tech / AVGC Sector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Make in India Indigenous Software</a:t>
            </a:r>
            <a:br/>
            <a:r>
              <a:t>Target: GENESIS EIR &amp; ELEVATE Grant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19872" y="4114800"/>
            <a:ext cx="3328416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400"/>
              </a:spcAft>
              <a:defRPr sz="1000" b="1">
                <a:solidFill>
                  <a:srgbClr val="059669"/>
                </a:solidFill>
              </a:defRPr>
            </a:pPr>
            <a:r>
              <a:t>PROVEN TRACTION</a:t>
            </a:r>
          </a:p>
          <a:p>
            <a:pPr>
              <a:spcAft>
                <a:spcPts val="400"/>
              </a:spcAft>
              <a:defRPr sz="1500" b="1">
                <a:solidFill>
                  <a:srgbClr val="0F172A"/>
                </a:solidFill>
              </a:defRPr>
            </a:pPr>
            <a:r>
              <a:t>2.5M+ Organic Reach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Blackmagic Design Certified</a:t>
            </a:r>
            <a:br/>
            <a:r>
              <a:t>JPMorgan &amp; Deloitte Qualified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THE CHALLENGE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Problem — Critical Industry Bottlenecks</a:t>
            </a:r>
          </a:p>
          <a:p>
            <a:pPr>
              <a:defRPr sz="1150">
                <a:solidFill>
                  <a:srgbClr val="64748B"/>
                </a:solidFill>
                <a:latin typeface="Arial"/>
              </a:defRPr>
            </a:pPr>
            <a:r>
              <a:t>High software costs and disconnected AI workflows are crippling independent creators.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2400" b="1">
                <a:solidFill>
                  <a:srgbClr val="D97706"/>
                </a:solidFill>
              </a:defRPr>
            </a:pPr>
            <a:r>
              <a:t>01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₹30K+ License Barrier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Studio-grade VFX plugins cost ₹30,000–₹1,00,000 per seat.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Locks out 95% of indie creators, students, and regional studios.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Forces heavy reliance on pirated or outdated software.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2400" b="1">
                <a:solidFill>
                  <a:srgbClr val="2563EB"/>
                </a:solidFill>
              </a:defRPr>
            </a:pPr>
            <a:r>
              <a:t>02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4K Compression Loss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Mainstream pipelines heavily compress 4K 60FPS high-framerate footage.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Causes severe motion artifacts and loss of camera sensor dynamic range.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Lack of accessible uncompressed 12-bit DPX frame renderers.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2400" b="1">
                <a:solidFill>
                  <a:srgbClr val="7C3AED"/>
                </a:solidFill>
              </a:defRPr>
            </a:pPr>
            <a:r>
              <a:t>03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Disconnected AI Tooling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Most AI tools are slow, standalone web wrappers with cloud lag.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No native integration into editors like DaVinci Resolve &amp; Premiere.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Forces tedious multi-step manual export and upload workflows.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PROPRIETARY PRODUCTS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The Solution — Symmetrical Media-Tech Infrastructure</a:t>
            </a:r>
          </a:p>
          <a:p>
            <a:pPr>
              <a:defRPr sz="1150">
                <a:solidFill>
                  <a:srgbClr val="64748B"/>
                </a:solidFill>
                <a:latin typeface="Arial"/>
              </a:defRPr>
            </a:pPr>
            <a:r>
              <a:t>High-performance, hardware-accelerated software engineered for local GPU execution.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950" b="1">
                <a:solidFill>
                  <a:srgbClr val="2563EB"/>
                </a:solidFill>
              </a:defRPr>
            </a:pPr>
            <a:r>
              <a:t>OFX PLUGIN FOR DAVINCI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AI Cinematic Haze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Native C++ / Apple Metal / CUDA GPU compute.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Embedded neural depth AI for real-time volumetric haze.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Preserves uncompressed 12-bit DPX sensor dynamic range.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100% on-device GPU execution with zero cloud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950" b="1">
                <a:solidFill>
                  <a:srgbClr val="059669"/>
                </a:solidFill>
              </a:defRPr>
            </a:pPr>
            <a:r>
              <a:t>ALGORITHMIC CSP SOLVER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InvigiMatrix Platform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Combinatorial NP-hard CSP backtracking solver.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AI/ML Smart Batch Planner with dynamic K-Means (k=3).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Zero-framework native Node.js + SQLite ACID transactions.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Live institutional deployment at Sahyadri College (SCEM).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950" b="1">
                <a:solidFill>
                  <a:srgbClr val="7C3AED"/>
                </a:solidFill>
              </a:defRPr>
            </a:pPr>
            <a:r>
              <a:t>AUTONOMOUS AGENTIC STUDIO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OmniTransform AI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Sub-75ms streaming neural voice AI synthesis.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Autonomous multi-agent workflows for media syndication.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High-throughput distributed stream architecture.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Built-in client-side code security and anti-tamper shields.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PROVEN RESULTS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Traction, Metrics &amp; Institutional Validation</a:t>
            </a:r>
          </a:p>
          <a:p>
            <a:pPr>
              <a:defRPr sz="1150">
                <a:solidFill>
                  <a:srgbClr val="64748B"/>
                </a:solidFill>
                <a:latin typeface="Arial"/>
              </a:defRPr>
            </a:pPr>
            <a:r>
              <a:t>Measurable reach, certified technical rigor, and live institutional deployment.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6636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2600" b="1">
                <a:solidFill>
                  <a:srgbClr val="059669"/>
                </a:solidFill>
              </a:defRPr>
            </a:pPr>
            <a:r>
              <a:t>2.5M+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Organic Creator Reach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Driven across active creative channels (@hrlpremiumstudio, @hrlefx) with proven viral retention.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3815" y="1828800"/>
            <a:ext cx="516636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2600" b="1">
                <a:solidFill>
                  <a:srgbClr val="2563EB"/>
                </a:solidFill>
              </a:defRPr>
            </a:pPr>
            <a:r>
              <a:t>100+ Faculty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Institutional Software Deployed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Live exam scheduling and anti-cheating batch planner deployed at Sahyadri College (SCEM).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516636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2600" b="1">
                <a:solidFill>
                  <a:srgbClr val="7C3AED"/>
                </a:solidFill>
              </a:defRPr>
            </a:pPr>
            <a:r>
              <a:t>100% Certified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Elite Corporate &amp; Industry Standards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Certified by Blackmagic Design (DaVinci Resolve), JPMorgan Chase &amp; Co. (Systems), and Deloitte (Cyber).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3815" y="4160520"/>
            <a:ext cx="516636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2600" b="1">
                <a:solidFill>
                  <a:srgbClr val="D97706"/>
                </a:solidFill>
              </a:defRPr>
            </a:pPr>
            <a:r>
              <a:t>0 ms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</a:defRPr>
            </a:pPr>
            <a:r>
              <a:t>Cloud Latency &amp; Subscription Cost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100% local GPU execution via Apple Metal and NVIDIA CUDA shaders with zero server bills.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MARKET POTENTIAL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Market Opportunity — Sizing &amp; Growth</a:t>
            </a:r>
          </a:p>
          <a:p>
            <a:pPr>
              <a:defRPr sz="1150">
                <a:solidFill>
                  <a:srgbClr val="64748B"/>
                </a:solidFill>
                <a:latin typeface="Arial"/>
              </a:defRPr>
            </a:pPr>
            <a:r>
              <a:t>Positioned at the intersection of the creator economy and high-growth Indian AVGC.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200" b="1">
                <a:solidFill>
                  <a:srgbClr val="2563EB"/>
                </a:solidFill>
              </a:defRPr>
            </a:pPr>
            <a:r>
              <a:t>TAM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$250 Billion+</a:t>
            </a:r>
          </a:p>
          <a:p>
            <a:pPr>
              <a:spcAft>
                <a:spcPts val="1400"/>
              </a:spcAft>
              <a:defRPr sz="1050" b="1">
                <a:solidFill>
                  <a:srgbClr val="2563EB"/>
                </a:solidFill>
              </a:defRPr>
            </a:pPr>
            <a:r>
              <a:t>Global Creator &amp; Video Market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50M+ digital content creators worldwide.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$40B+ dedicated video editing and VFX plugin sector.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Surge in demand for 4K 60FPS cinematic content.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200" b="1">
                <a:solidFill>
                  <a:srgbClr val="059669"/>
                </a:solidFill>
              </a:defRPr>
            </a:pPr>
            <a:r>
              <a:t>SAM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$4.2 Billion</a:t>
            </a:r>
          </a:p>
          <a:p>
            <a:pPr>
              <a:spcAft>
                <a:spcPts val="1400"/>
              </a:spcAft>
              <a:defRPr sz="1050" b="1">
                <a:solidFill>
                  <a:srgbClr val="059669"/>
                </a:solidFill>
              </a:defRPr>
            </a:pPr>
            <a:r>
              <a:t>Indian AVGC &amp; Media Ecosystem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India's Animation, Visual Effects &amp; Gaming market.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1.5M+ active digital video creators and editors in India.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Booming regional OTT and digital ad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1200" b="1">
                <a:solidFill>
                  <a:srgbClr val="7C3AED"/>
                </a:solidFill>
              </a:defRPr>
            </a:pPr>
            <a:r>
              <a:t>SOM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₹120 Crore</a:t>
            </a:r>
          </a:p>
          <a:p>
            <a:pPr>
              <a:spcAft>
                <a:spcPts val="1400"/>
              </a:spcAft>
              <a:defRPr sz="1050" b="1">
                <a:solidFill>
                  <a:srgbClr val="7C3AED"/>
                </a:solidFill>
              </a:defRPr>
            </a:pPr>
            <a:r>
              <a:t>36-Month Addressable Target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Targeting 50,000+ indie editors &amp; studios in India.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Disruptive ₹499–₹2,499/mo accessible pricing.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• 15%+ annual adoption in Tier-1 &amp; Tier-2 hubs.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COMMERCIAL STRATEGY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Business &amp; Monetization Model</a:t>
            </a:r>
          </a:p>
          <a:p>
            <a:pPr>
              <a:defRPr sz="1150">
                <a:solidFill>
                  <a:srgbClr val="64748B"/>
                </a:solidFill>
                <a:latin typeface="Arial"/>
              </a:defRPr>
            </a:pPr>
            <a:r>
              <a:t>A multi-tiered monetization strategy capturing individual creators and enterprise studios.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950" b="1">
                <a:solidFill>
                  <a:srgbClr val="2563EB"/>
                </a:solidFill>
              </a:defRPr>
            </a:pPr>
            <a:r>
              <a:t>DIRECT ASSET SALES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Plugin Marketplace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Affordable perpetual licenses for DaVinci Resolve &amp; After Effects plugins.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Priced at ₹1,499 – ₹4,999 (disrupting ₹30k+ foreign tools).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Targeting freelance video editors &amp; YouTube creators.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High gross margin (&gt;90%) digital software delivery.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950" b="1">
                <a:solidFill>
                  <a:srgbClr val="7C3AED"/>
                </a:solidFill>
              </a:defRPr>
            </a:pPr>
            <a:r>
              <a:t>RECURRING SUBSCRIPTION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Creator All-Access SaaS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Monthly (₹499/mo) and Annual (₹4,999/yr) all-access plans.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Unlimited access to new monthly VFX packs &amp; AI tools.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Predictable recurring MRR with high customer lifetime value.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Continuous automated preset &amp; model updates.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82880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200"/>
              </a:spcAft>
              <a:defRPr sz="950" b="1">
                <a:solidFill>
                  <a:srgbClr val="059669"/>
                </a:solidFill>
              </a:defRPr>
            </a:pPr>
            <a:r>
              <a:t>B2B &amp; MEDIA CONTRACTS</a:t>
            </a:r>
          </a:p>
          <a:p>
            <a:pPr>
              <a:spcAft>
                <a:spcPts val="1400"/>
              </a:spcAft>
              <a:defRPr sz="1600" b="1">
                <a:solidFill>
                  <a:srgbClr val="0F172A"/>
                </a:solidFill>
              </a:defRPr>
            </a:pPr>
            <a:r>
              <a:t>Enterprise Retainers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Custom OFX pipeline builds for film &amp; ad production studios.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Viral media syndication contracts via @hrlflix network.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Enterprise software licensing for media academies.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</a:defRPr>
            </a:pPr>
            <a:r>
              <a:t>✔  Bespoke algorithmic optimization solvers.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WHY WE WIN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Competitive Moat — Defensible Advantages</a:t>
            </a:r>
          </a:p>
          <a:p>
            <a:pPr>
              <a:defRPr sz="1150">
                <a:solidFill>
                  <a:srgbClr val="64748B"/>
                </a:solidFill>
                <a:latin typeface="Arial"/>
              </a:defRPr>
            </a:pPr>
            <a:r>
              <a:t>Core structural advantages that cannot be easily replicated by web apps or legacy suites.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6636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2563EB"/>
                </a:solidFill>
              </a:defRPr>
            </a:pPr>
            <a:r>
              <a:t>Native GPU vs. Slow Cloud Wrappers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Direct Metal/CUDA execution on user hardware. 0ms latency, zero cloud operational bills, and instant scrubbing.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3815" y="1828800"/>
            <a:ext cx="516636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059669"/>
                </a:solidFill>
              </a:defRPr>
            </a:pPr>
            <a:r>
              <a:t>Certified Hollywood Color Science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Blackmagic Design certified color science preserving 12-bit DPX sensor data with ACEScc dynamic range.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60520"/>
            <a:ext cx="516636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7C3AED"/>
                </a:solidFill>
              </a:defRPr>
            </a:pPr>
            <a:r>
              <a:t>High-Velocity Zero-Bloat Architecture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Proprietary C++ engines &amp; ACID-safe backends built in-house for maximum throughput without third-party bloat.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3815" y="4160520"/>
            <a:ext cx="516636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600"/>
              </a:spcAft>
              <a:defRPr sz="1400" b="1">
                <a:solidFill>
                  <a:srgbClr val="D97706"/>
                </a:solidFill>
              </a:defRPr>
            </a:pPr>
            <a:r>
              <a:t>Zero-CAC Creator Distribution Flywheel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2.5M+ active viewer network providing instant viral distribution and real-time product feedback loops.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LEADERSHIP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Founder &amp; Leadership Profile</a:t>
            </a:r>
          </a:p>
          <a:p>
            <a:pPr>
              <a:defRPr sz="1150">
                <a:solidFill>
                  <a:srgbClr val="64748B"/>
                </a:solidFill>
                <a:latin typeface="Arial"/>
              </a:defRPr>
            </a:pPr>
            <a:r>
              <a:t>Combining deep algorithmic systems engineering with certified media production.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438912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FOUNDER &amp; MANAGING DIRECTOR</a:t>
            </a:r>
          </a:p>
          <a:p>
            <a:pPr>
              <a:spcAft>
                <a:spcPts val="1200"/>
              </a:spcAft>
              <a:defRPr sz="2000" b="1">
                <a:solidFill>
                  <a:srgbClr val="0F172A"/>
                </a:solidFill>
              </a:defRPr>
            </a:pPr>
            <a:r>
              <a:t>Pavan Kumar Sadashiv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B.E. Computer Science &amp; Engg (AI &amp; ML) — Sahyadri College (SCEM), Mangaluru.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AI Systems Chief Architect &amp; Full-Stack Systems Engineer.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Specialized in low-level GPU compute (C++, Metal, CUDA), discrete optimization, and AI agents.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</a:defRPr>
            </a:pPr>
            <a:r>
              <a:t>• Location: Mangaluru, Karnataka (Beyond Bengaluru Tier-2 Hub).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0" y="1828800"/>
            <a:ext cx="594360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  <a:defRPr sz="1300" b="1">
                <a:solidFill>
                  <a:srgbClr val="2563EB"/>
                </a:solidFill>
              </a:defRPr>
            </a:pPr>
            <a:r>
              <a:t>Blackmagic Design — Certified User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Validated mastery of Hollywood ACEScc color science, node graphs, and DaVinci Resolve OFX integration.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3383280"/>
            <a:ext cx="594360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  <a:defRPr sz="1300" b="1">
                <a:solidFill>
                  <a:srgbClr val="7C3AED"/>
                </a:solidFill>
              </a:defRPr>
            </a:pPr>
            <a:r>
              <a:t>JPMorgan Chase &amp; Co. — Software Engineering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Accreditation in Kafka distributed streaming, low-latency API design, and transaction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4937760"/>
            <a:ext cx="594360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  <a:defRPr sz="1300" b="1">
                <a:solidFill>
                  <a:srgbClr val="059669"/>
                </a:solidFill>
              </a:defRPr>
            </a:pPr>
            <a:r>
              <a:t>Deloitte Australia — Cyber Defense &amp; Governance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Accreditation in enterprise threat modeling, perimeter defense, and IP access governance.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FUNDING &amp; ROADMAP</a:t>
            </a:r>
          </a:p>
          <a:p>
            <a:pPr>
              <a:spcAft>
                <a:spcPts val="200"/>
              </a:spcAft>
              <a:defRPr sz="2200" b="1">
                <a:solidFill>
                  <a:srgbClr val="0F172A"/>
                </a:solidFill>
                <a:latin typeface="Arial"/>
              </a:defRPr>
            </a:pPr>
            <a:r>
              <a:t>Fund Utilization &amp; Milestone Roadmap</a:t>
            </a:r>
          </a:p>
          <a:p>
            <a:pPr>
              <a:defRPr sz="1150">
                <a:solidFill>
                  <a:srgbClr val="64748B"/>
                </a:solidFill>
                <a:latin typeface="Arial"/>
              </a:defRPr>
            </a:pPr>
            <a:r>
              <a:t>Targeting ₹20L – ₹50L non-dilutive grant support (GENESIS EIR / ELEVATE / SISFS).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663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BUDGET ALLOCATION (₹50 LAKHS)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40%  •  Core R&amp;D &amp; Plugin Engineering (₹20,00,000)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DaVinci Resolve OFX C++/CUDA engine &amp; ONNX depth AI.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30%  •  GPU Hardware &amp; Compute Lab (₹15,00,000)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Dedicated testbeds for real-time 4K 60FPS optimization.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10%  •  IP, Patents &amp; Trademark Filings (₹5,00,000)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Indian Patent Office (IPO) filings &amp; international IP protection.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20%  •  Pilot Trials &amp; Market Launch (₹10,00,000)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</a:defRPr>
            </a:pPr>
            <a:r>
              <a:t>Beta onboarding across Karnataka and production studios.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3815" y="1828800"/>
            <a:ext cx="51663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200"/>
              </a:spcAft>
              <a:defRPr sz="1200" b="1">
                <a:solidFill>
                  <a:srgbClr val="7C3AED"/>
                </a:solidFill>
              </a:defRPr>
            </a:pPr>
            <a:r>
              <a:t>18-MONTH EXECUTION ROADMAP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★  Months 1 – 6: Alpha Engine &amp; Indian Patent Filing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</a:defRPr>
            </a:pPr>
            <a:r>
              <a:t>Complete C++/CUDA OFX plugin builds; file provisional patents on neural depth VFX.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★  Months 7 – 12: Closed Beta (1,000+ Creators)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</a:defRPr>
            </a:pPr>
            <a:r>
              <a:t>Deploy beta testing to video editors across Karnataka; benchmark real-time 4K FPS.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★  Months 13 – 18: Commercial Marketplace &amp; SaaS Launch</a:t>
            </a:r>
          </a:p>
          <a:p>
            <a:pPr>
              <a:spcAft>
                <a:spcPts val="1000"/>
              </a:spcAft>
              <a:defRPr sz="1000">
                <a:solidFill>
                  <a:srgbClr val="64748B"/>
                </a:solidFill>
              </a:defRPr>
            </a:pPr>
            <a:r>
              <a:t>Launch commercial SaaS tier; onboard 50+ studios &amp; achieve ₹50L+ ARR.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 bIns="365760"/>
          <a:lstStyle/>
          <a:p>
            <a:pPr algn="ctr"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HRL INTERNATIONAL PRIVATE LIMITED</a:t>
            </a:r>
          </a:p>
          <a:p>
            <a:pPr algn="ctr">
              <a:spcAft>
                <a:spcPts val="800"/>
              </a:spcAft>
              <a:defRPr sz="2800" b="1">
                <a:solidFill>
                  <a:srgbClr val="0F172A"/>
                </a:solidFill>
              </a:defRPr>
            </a:pPr>
            <a:r>
              <a:t>Democratizing Cinema-Grade Visual Computing</a:t>
            </a:r>
          </a:p>
          <a:p>
            <a:pPr algn="ctr">
              <a:spcAft>
                <a:spcPts val="2400"/>
              </a:spcAft>
              <a:defRPr sz="1400" i="1">
                <a:solidFill>
                  <a:srgbClr val="7C3AED"/>
                </a:solidFill>
              </a:defRPr>
            </a:pPr>
            <a:r>
              <a:t>"We Can Do Everything Related To Software Sector Without Any Excuses!"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2918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</a:defRPr>
            </a:pPr>
            <a:r>
              <a:t>FOUNDER &amp; CONTACT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Pavan Kumar Sadashiv</a:t>
            </a:r>
            <a:br/>
            <a:r>
              <a:t>Founder &amp; Managing Director</a:t>
            </a:r>
            <a:br/>
            <a:r>
              <a:t>Email: hrlinternationalprivatelimited@gmail.com</a:t>
            </a:r>
            <a:br/>
            <a:r>
              <a:t>Direct: pavankcet@gmail.com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32918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</a:defRPr>
            </a:pPr>
            <a:r>
              <a:t>REGISTERED OFFICE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HRL International Private Limited</a:t>
            </a:r>
            <a:br/>
            <a:r>
              <a:t>Mangaluru, Karnataka - 575007</a:t>
            </a:r>
            <a:br/>
            <a:r>
              <a:t>Beyond Bengaluru Tier-2 Hub</a:t>
            </a:r>
            <a:br/>
            <a:r>
              <a:t>Make In India Deep-Tech Startup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32918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</a:defRPr>
            </a:pPr>
            <a:r>
              <a:t>WEB &amp; REPOSITORIES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Platform: hrl-brand-seo.vercel.app</a:t>
            </a:r>
            <a:br/>
            <a:r>
              <a:t>Website: hrlpavan.github.io/hrl-international-website-/</a:t>
            </a:r>
            <a:br/>
            <a:r>
              <a:t>GitHub: github.com/hrlpavan</a:t>
            </a:r>
            <a:br/>
            <a:r>
              <a:t>Showcase: 4K 60FPS Video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